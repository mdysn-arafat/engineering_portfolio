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63" r:id="rId3"/>
    <p:sldId id="270" r:id="rId4"/>
    <p:sldId id="271" r:id="rId5"/>
    <p:sldId id="257" r:id="rId6"/>
    <p:sldId id="272" r:id="rId7"/>
    <p:sldId id="274" r:id="rId8"/>
    <p:sldId id="267" r:id="rId9"/>
    <p:sldId id="273" r:id="rId10"/>
    <p:sldId id="280" r:id="rId11"/>
    <p:sldId id="276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75978EB-585B-4A34-A12F-4CBB1BD42E8A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64683CD-2E0B-49FF-B4E0-8C82BE5D0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84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978EB-585B-4A34-A12F-4CBB1BD42E8A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83CD-2E0B-49FF-B4E0-8C82BE5D0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67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978EB-585B-4A34-A12F-4CBB1BD42E8A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83CD-2E0B-49FF-B4E0-8C82BE5D0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601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978EB-585B-4A34-A12F-4CBB1BD42E8A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83CD-2E0B-49FF-B4E0-8C82BE5D0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1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978EB-585B-4A34-A12F-4CBB1BD42E8A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83CD-2E0B-49FF-B4E0-8C82BE5D0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64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978EB-585B-4A34-A12F-4CBB1BD42E8A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83CD-2E0B-49FF-B4E0-8C82BE5D0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85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978EB-585B-4A34-A12F-4CBB1BD42E8A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83CD-2E0B-49FF-B4E0-8C82BE5D0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19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978EB-585B-4A34-A12F-4CBB1BD42E8A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F64683CD-2E0B-49FF-B4E0-8C82BE5D0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5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75978EB-585B-4A34-A12F-4CBB1BD42E8A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64683CD-2E0B-49FF-B4E0-8C82BE5D0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30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978EB-585B-4A34-A12F-4CBB1BD42E8A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83CD-2E0B-49FF-B4E0-8C82BE5D0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6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978EB-585B-4A34-A12F-4CBB1BD42E8A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683CD-2E0B-49FF-B4E0-8C82BE5D0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97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75978EB-585B-4A34-A12F-4CBB1BD42E8A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F64683CD-2E0B-49FF-B4E0-8C82BE5D0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45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5F75B-7E06-EBAF-C506-C3B4ADD3D8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rPr>
              <a:t>Basic Model &amp; Load Calculation</a:t>
            </a:r>
            <a:br>
              <a:rPr lang="en-US" sz="4900" dirty="0"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rPr>
            </a:br>
            <a:br>
              <a:rPr lang="en-US" sz="4900" dirty="0"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rPr>
            </a:br>
            <a:endParaRPr lang="en-US" sz="3600" dirty="0">
              <a:latin typeface="Arial" panose="020B0604020202020204" pitchFamily="34" charset="0"/>
              <a:ea typeface="Roboto" pitchFamily="2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EDE71-A774-4C9B-9F2A-421A262551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>
                <a:latin typeface="Arial" panose="020B0604020202020204" pitchFamily="34" charset="0"/>
                <a:ea typeface="Roboto" pitchFamily="2" charset="0"/>
                <a:cs typeface="Arial" panose="020B0604020202020204" pitchFamily="34" charset="0"/>
              </a:rPr>
              <a:t>Prepared by: Md. Yasin Arafat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393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3C5F1-866D-05D0-D3C9-E674EAE74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Shell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2AA5E8-A4E0-40D4-AFD4-09611E9832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573" y="2011363"/>
            <a:ext cx="8355128" cy="3767137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0357C80-451D-4384-A184-AEB9A65CA063}"/>
              </a:ext>
            </a:extLst>
          </p:cNvPr>
          <p:cNvSpPr/>
          <p:nvPr/>
        </p:nvSpPr>
        <p:spPr>
          <a:xfrm>
            <a:off x="0" y="6358467"/>
            <a:ext cx="12192000" cy="4995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66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3C5F1-866D-05D0-D3C9-E674EAE74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277" y="260382"/>
            <a:ext cx="10772775" cy="1658198"/>
          </a:xfrm>
        </p:spPr>
        <p:txBody>
          <a:bodyPr/>
          <a:lstStyle/>
          <a:p>
            <a:r>
              <a:rPr lang="en-US" b="1" dirty="0"/>
              <a:t>Load Diagram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E43E8BD-C204-4DD2-84DE-077B27644619}"/>
              </a:ext>
            </a:extLst>
          </p:cNvPr>
          <p:cNvSpPr/>
          <p:nvPr/>
        </p:nvSpPr>
        <p:spPr>
          <a:xfrm>
            <a:off x="9245600" y="6400800"/>
            <a:ext cx="362857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F6C1CE7-3AA4-4B2E-9ADF-9DA035888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948" y="1504403"/>
            <a:ext cx="9672030" cy="489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373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964A-56E3-42B3-B71F-2E285BA7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65125"/>
            <a:ext cx="10677525" cy="1325563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Calculated Load Cases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7EF7D-0E86-98AA-2001-539373CCB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53725" cy="4802187"/>
          </a:xfrm>
        </p:spPr>
        <p:txBody>
          <a:bodyPr>
            <a:normAutofit/>
          </a:bodyPr>
          <a:lstStyle/>
          <a:p>
            <a:r>
              <a:rPr lang="en-US" b="1" dirty="0"/>
              <a:t>Permanent Loads: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Weight of rotor components and equipment inside the nacelle, machinery, equipment, tower etc.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Hydrostatic Pressure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Ballast Pressure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Pre-tension in mooring lines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Static earth pressure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Loads: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Bending moment on shear force due to turbine thrust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13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964A-56E3-42B3-B71F-2E285BA7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65125"/>
            <a:ext cx="10677525" cy="1325563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Permanent Loads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7EF7D-0E86-98AA-2001-539373CCB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53725" cy="4802187"/>
          </a:xfrm>
        </p:spPr>
        <p:txBody>
          <a:bodyPr>
            <a:normAutofit/>
          </a:bodyPr>
          <a:lstStyle/>
          <a:p>
            <a:r>
              <a:rPr lang="en-US" b="1" dirty="0"/>
              <a:t>Mass: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52BBD9-33C9-434F-A1CB-7DB943B1F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555" y="2073039"/>
            <a:ext cx="7700889" cy="406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29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964A-56E3-42B3-B71F-2E285BA7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65125"/>
            <a:ext cx="10677525" cy="1325563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Permanent Loads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7EF7D-0E86-98AA-2001-539373CCB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53725" cy="4802187"/>
          </a:xfrm>
        </p:spPr>
        <p:txBody>
          <a:bodyPr>
            <a:normAutofit/>
          </a:bodyPr>
          <a:lstStyle/>
          <a:p>
            <a:r>
              <a:rPr lang="en-US" b="1" dirty="0"/>
              <a:t>Mass: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6C908B-795B-4BCC-BCF3-03F2A3DEA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384523"/>
              </p:ext>
            </p:extLst>
          </p:nvPr>
        </p:nvGraphicFramePr>
        <p:xfrm>
          <a:off x="1293888" y="2236765"/>
          <a:ext cx="9875859" cy="3617938"/>
        </p:xfrm>
        <a:graphic>
          <a:graphicData uri="http://schemas.openxmlformats.org/drawingml/2006/table">
            <a:tbl>
              <a:tblPr/>
              <a:tblGrid>
                <a:gridCol w="2735835">
                  <a:extLst>
                    <a:ext uri="{9D8B030D-6E8A-4147-A177-3AD203B41FA5}">
                      <a16:colId xmlns:a16="http://schemas.microsoft.com/office/drawing/2014/main" val="2397379014"/>
                    </a:ext>
                  </a:extLst>
                </a:gridCol>
                <a:gridCol w="1508547">
                  <a:extLst>
                    <a:ext uri="{9D8B030D-6E8A-4147-A177-3AD203B41FA5}">
                      <a16:colId xmlns:a16="http://schemas.microsoft.com/office/drawing/2014/main" val="4287358916"/>
                    </a:ext>
                  </a:extLst>
                </a:gridCol>
                <a:gridCol w="2096624">
                  <a:extLst>
                    <a:ext uri="{9D8B030D-6E8A-4147-A177-3AD203B41FA5}">
                      <a16:colId xmlns:a16="http://schemas.microsoft.com/office/drawing/2014/main" val="3261420119"/>
                    </a:ext>
                  </a:extLst>
                </a:gridCol>
                <a:gridCol w="1898465">
                  <a:extLst>
                    <a:ext uri="{9D8B030D-6E8A-4147-A177-3AD203B41FA5}">
                      <a16:colId xmlns:a16="http://schemas.microsoft.com/office/drawing/2014/main" val="3647001480"/>
                    </a:ext>
                  </a:extLst>
                </a:gridCol>
                <a:gridCol w="1636388">
                  <a:extLst>
                    <a:ext uri="{9D8B030D-6E8A-4147-A177-3AD203B41FA5}">
                      <a16:colId xmlns:a16="http://schemas.microsoft.com/office/drawing/2014/main" val="124037837"/>
                    </a:ext>
                  </a:extLst>
                </a:gridCol>
              </a:tblGrid>
              <a:tr h="4298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Mass (t)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2200" b="0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xx</a:t>
                      </a:r>
                      <a:r>
                        <a:rPr lang="en-US" sz="22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[KG. m</a:t>
                      </a:r>
                      <a:r>
                        <a:rPr lang="en-US" sz="2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Iyy</a:t>
                      </a:r>
                      <a:r>
                        <a:rPr lang="en-US" sz="22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[KG. m</a:t>
                      </a:r>
                      <a:r>
                        <a:rPr lang="en-US" sz="2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2200" b="0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zz</a:t>
                      </a:r>
                      <a:r>
                        <a:rPr lang="en-US" sz="22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[KG. m</a:t>
                      </a:r>
                      <a:r>
                        <a:rPr lang="en-US" sz="2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4166268"/>
                  </a:ext>
                </a:extLst>
              </a:tr>
              <a:tr h="3503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1 Ballast </a:t>
                      </a: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4898.1</a:t>
                      </a: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6.98E+08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6.98E+08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9.49E+07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387787"/>
                  </a:ext>
                </a:extLst>
              </a:tr>
              <a:tr h="3503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2 Ballast </a:t>
                      </a: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4898.1</a:t>
                      </a: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6.98E+08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6.98E+08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9.49E+07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751955"/>
                  </a:ext>
                </a:extLst>
              </a:tr>
              <a:tr h="3503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3 Ballast </a:t>
                      </a: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4898.1</a:t>
                      </a: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6.98E+08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6.98E+08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9.49E+07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97792"/>
                  </a:ext>
                </a:extLst>
              </a:tr>
              <a:tr h="3473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 Column Ballast </a:t>
                      </a: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4514</a:t>
                      </a: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6.40E+08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6.40E+08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8.08E+07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423955"/>
                  </a:ext>
                </a:extLst>
              </a:tr>
              <a:tr h="3503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Pontoon 1 Ballst </a:t>
                      </a: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4225.2</a:t>
                      </a: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5.28E+07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1.05E+09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1.05E+09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527038"/>
                  </a:ext>
                </a:extLst>
              </a:tr>
              <a:tr h="3503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Pontoon 2 Ballst </a:t>
                      </a: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4224.9</a:t>
                      </a: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1.05E+09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5.28E+07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1.05E+09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302612"/>
                  </a:ext>
                </a:extLst>
              </a:tr>
              <a:tr h="3503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Pontoon 3 Ballst </a:t>
                      </a: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4224.9</a:t>
                      </a: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1.05E+09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5.28E+07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1.05E+09</a:t>
                      </a:r>
                    </a:p>
                  </a:txBody>
                  <a:tcPr marL="18948" marR="18948" marT="189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390217"/>
                  </a:ext>
                </a:extLst>
              </a:tr>
              <a:tr h="3503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Tower</a:t>
                      </a: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1574</a:t>
                      </a: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027540"/>
                  </a:ext>
                </a:extLst>
              </a:tr>
              <a:tr h="350392">
                <a:tc>
                  <a:txBody>
                    <a:bodyPr/>
                    <a:lstStyle/>
                    <a:p>
                      <a:pPr algn="ctr" fontAlgn="b"/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948" marR="18948" marT="189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4653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828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964A-56E3-42B3-B71F-2E285BA7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65125"/>
            <a:ext cx="10677525" cy="1325563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Permanent Loads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7EF7D-0E86-98AA-2001-539373CCB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53725" cy="4802187"/>
          </a:xfrm>
        </p:spPr>
        <p:txBody>
          <a:bodyPr>
            <a:normAutofit/>
          </a:bodyPr>
          <a:lstStyle/>
          <a:p>
            <a:r>
              <a:rPr lang="en-US" b="1" dirty="0"/>
              <a:t>Pre tension In mooring line:</a:t>
            </a:r>
          </a:p>
          <a:p>
            <a:pPr marL="0" indent="0">
              <a:buNone/>
            </a:pPr>
            <a:r>
              <a:rPr lang="en-US" dirty="0"/>
              <a:t>Line breaking strength MN 103.8</a:t>
            </a:r>
          </a:p>
          <a:p>
            <a:pPr marL="0" indent="0">
              <a:buNone/>
            </a:pPr>
            <a:r>
              <a:rPr lang="en-US" dirty="0"/>
              <a:t>Its weight alone is approximately 26.14 MN.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Load on fairlead can’t exceed 103.8 MN</a:t>
            </a:r>
          </a:p>
          <a:p>
            <a:pPr marL="0" indent="0">
              <a:buNone/>
            </a:pPr>
            <a:r>
              <a:rPr lang="en-US" b="1" dirty="0"/>
              <a:t>Static Earth pressure: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Not Applicable I Think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002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E24D1-F662-48A0-45C7-821A7DC8C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Loads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4E323-D099-8E6B-F5DF-1BFBD546D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Tower Base moment and shear force</a:t>
            </a:r>
          </a:p>
          <a:p>
            <a:r>
              <a:rPr lang="en-US" dirty="0"/>
              <a:t>Formula for moment, M= Thrust x Tower Height</a:t>
            </a:r>
          </a:p>
          <a:p>
            <a:r>
              <a:rPr lang="en-US" dirty="0"/>
              <a:t>Formula for shear force, Fs= -Thrust</a:t>
            </a:r>
          </a:p>
          <a:p>
            <a:r>
              <a:rPr lang="en-US" dirty="0"/>
              <a:t>Both formulas are verified by Ansys prob tool.</a:t>
            </a:r>
          </a:p>
          <a:p>
            <a:r>
              <a:rPr lang="en-US" dirty="0"/>
              <a:t>Result:</a:t>
            </a:r>
          </a:p>
          <a:p>
            <a:r>
              <a:rPr lang="en-US" dirty="0"/>
              <a:t>Next Page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182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E24D1-F662-48A0-45C7-821A7DC8C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Loads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4E323-D099-8E6B-F5DF-1BFBD546D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Result: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0CE7DF-8AB9-4C95-820A-ABD45FC2F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8924"/>
              </p:ext>
            </p:extLst>
          </p:nvPr>
        </p:nvGraphicFramePr>
        <p:xfrm>
          <a:off x="761618" y="2490788"/>
          <a:ext cx="4800981" cy="3119213"/>
        </p:xfrm>
        <a:graphic>
          <a:graphicData uri="http://schemas.openxmlformats.org/drawingml/2006/table">
            <a:tbl>
              <a:tblPr/>
              <a:tblGrid>
                <a:gridCol w="910590">
                  <a:extLst>
                    <a:ext uri="{9D8B030D-6E8A-4147-A177-3AD203B41FA5}">
                      <a16:colId xmlns:a16="http://schemas.microsoft.com/office/drawing/2014/main" val="3286599228"/>
                    </a:ext>
                  </a:extLst>
                </a:gridCol>
                <a:gridCol w="992135">
                  <a:extLst>
                    <a:ext uri="{9D8B030D-6E8A-4147-A177-3AD203B41FA5}">
                      <a16:colId xmlns:a16="http://schemas.microsoft.com/office/drawing/2014/main" val="148516554"/>
                    </a:ext>
                  </a:extLst>
                </a:gridCol>
                <a:gridCol w="927578">
                  <a:extLst>
                    <a:ext uri="{9D8B030D-6E8A-4147-A177-3AD203B41FA5}">
                      <a16:colId xmlns:a16="http://schemas.microsoft.com/office/drawing/2014/main" val="900285193"/>
                    </a:ext>
                  </a:extLst>
                </a:gridCol>
                <a:gridCol w="652362">
                  <a:extLst>
                    <a:ext uri="{9D8B030D-6E8A-4147-A177-3AD203B41FA5}">
                      <a16:colId xmlns:a16="http://schemas.microsoft.com/office/drawing/2014/main" val="1305099014"/>
                    </a:ext>
                  </a:extLst>
                </a:gridCol>
                <a:gridCol w="652362">
                  <a:extLst>
                    <a:ext uri="{9D8B030D-6E8A-4147-A177-3AD203B41FA5}">
                      <a16:colId xmlns:a16="http://schemas.microsoft.com/office/drawing/2014/main" val="1203195058"/>
                    </a:ext>
                  </a:extLst>
                </a:gridCol>
                <a:gridCol w="665954">
                  <a:extLst>
                    <a:ext uri="{9D8B030D-6E8A-4147-A177-3AD203B41FA5}">
                      <a16:colId xmlns:a16="http://schemas.microsoft.com/office/drawing/2014/main" val="1100814397"/>
                    </a:ext>
                  </a:extLst>
                </a:gridCol>
              </a:tblGrid>
              <a:tr h="6058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Wind Speed (m/s)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Pitch (deg)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Rotor Speed (rpm)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Thrust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(KN)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Moment</a:t>
                      </a:r>
                      <a:b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(KN.M)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Shear Force</a:t>
                      </a:r>
                      <a:b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751074"/>
                  </a:ext>
                </a:extLst>
              </a:tr>
              <a:tr h="2094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0.58064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1.84662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464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71920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-464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097619"/>
                  </a:ext>
                </a:extLst>
              </a:tr>
              <a:tr h="2094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0.33798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2.46216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622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96410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-622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2989962"/>
                  </a:ext>
                </a:extLst>
              </a:tr>
              <a:tr h="2094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0.00915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3.0777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812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125860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-812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6895790"/>
                  </a:ext>
                </a:extLst>
              </a:tr>
              <a:tr h="2094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-0.33797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3.69324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1158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179490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-1158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83578"/>
                  </a:ext>
                </a:extLst>
              </a:tr>
              <a:tr h="2094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-0.63879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4.30878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1557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241335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-1557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050640"/>
                  </a:ext>
                </a:extLst>
              </a:tr>
              <a:tr h="2094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-0.97996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4.92432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2011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311705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-2011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069524"/>
                  </a:ext>
                </a:extLst>
              </a:tr>
              <a:tr h="2094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-1.3268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5.53986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2482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384710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-2482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8720490"/>
                  </a:ext>
                </a:extLst>
              </a:tr>
              <a:tr h="2094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0.73192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6.1554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2658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411990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-2658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434403"/>
                  </a:ext>
                </a:extLst>
              </a:tr>
              <a:tr h="2094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2.42859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6.77094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2768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429040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-2768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4141532"/>
                  </a:ext>
                </a:extLst>
              </a:tr>
              <a:tr h="2094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5.09471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7.0611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2478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384090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-2478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4380733"/>
                  </a:ext>
                </a:extLst>
              </a:tr>
              <a:tr h="2094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7.26585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7.0611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2209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342395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-2209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86727"/>
                  </a:ext>
                </a:extLst>
              </a:tr>
              <a:tr h="2094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9.01413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7.0611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2008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311240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-2008</a:t>
                      </a:r>
                    </a:p>
                  </a:txBody>
                  <a:tcPr marL="11261" marR="11261" marT="1126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80942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427B754-919E-46B8-83B6-0A8FFE9D4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362791"/>
              </p:ext>
            </p:extLst>
          </p:nvPr>
        </p:nvGraphicFramePr>
        <p:xfrm>
          <a:off x="5647564" y="3086100"/>
          <a:ext cx="5401436" cy="2523906"/>
        </p:xfrm>
        <a:graphic>
          <a:graphicData uri="http://schemas.openxmlformats.org/drawingml/2006/table">
            <a:tbl>
              <a:tblPr/>
              <a:tblGrid>
                <a:gridCol w="1024476">
                  <a:extLst>
                    <a:ext uri="{9D8B030D-6E8A-4147-A177-3AD203B41FA5}">
                      <a16:colId xmlns:a16="http://schemas.microsoft.com/office/drawing/2014/main" val="2892707789"/>
                    </a:ext>
                  </a:extLst>
                </a:gridCol>
                <a:gridCol w="1116220">
                  <a:extLst>
                    <a:ext uri="{9D8B030D-6E8A-4147-A177-3AD203B41FA5}">
                      <a16:colId xmlns:a16="http://schemas.microsoft.com/office/drawing/2014/main" val="3362100362"/>
                    </a:ext>
                  </a:extLst>
                </a:gridCol>
                <a:gridCol w="1043590">
                  <a:extLst>
                    <a:ext uri="{9D8B030D-6E8A-4147-A177-3AD203B41FA5}">
                      <a16:colId xmlns:a16="http://schemas.microsoft.com/office/drawing/2014/main" val="3366032018"/>
                    </a:ext>
                  </a:extLst>
                </a:gridCol>
                <a:gridCol w="733953">
                  <a:extLst>
                    <a:ext uri="{9D8B030D-6E8A-4147-A177-3AD203B41FA5}">
                      <a16:colId xmlns:a16="http://schemas.microsoft.com/office/drawing/2014/main" val="1609291311"/>
                    </a:ext>
                  </a:extLst>
                </a:gridCol>
                <a:gridCol w="733953">
                  <a:extLst>
                    <a:ext uri="{9D8B030D-6E8A-4147-A177-3AD203B41FA5}">
                      <a16:colId xmlns:a16="http://schemas.microsoft.com/office/drawing/2014/main" val="4116863567"/>
                    </a:ext>
                  </a:extLst>
                </a:gridCol>
                <a:gridCol w="749244">
                  <a:extLst>
                    <a:ext uri="{9D8B030D-6E8A-4147-A177-3AD203B41FA5}">
                      <a16:colId xmlns:a16="http://schemas.microsoft.com/office/drawing/2014/main" val="945003529"/>
                    </a:ext>
                  </a:extLst>
                </a:gridCol>
              </a:tblGrid>
              <a:tr h="22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10.53731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7.0611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288145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-1859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887234"/>
                  </a:ext>
                </a:extLst>
              </a:tr>
              <a:tr h="22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11.91818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7.0611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268615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69921"/>
                  </a:ext>
                </a:extLst>
              </a:tr>
              <a:tr h="22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13.20451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7.0611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256990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005398"/>
                  </a:ext>
                </a:extLst>
              </a:tr>
              <a:tr h="22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14.42148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7.0611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239165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-1543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2125626"/>
                  </a:ext>
                </a:extLst>
              </a:tr>
              <a:tr h="22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15.58471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7.0611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224905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6186700"/>
                  </a:ext>
                </a:extLst>
              </a:tr>
              <a:tr h="22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16.70423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7.0611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214210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-1382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745408"/>
                  </a:ext>
                </a:extLst>
              </a:tr>
              <a:tr h="22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17.7886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7.0611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204910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5338446"/>
                  </a:ext>
                </a:extLst>
              </a:tr>
              <a:tr h="22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18.84311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7.0611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196540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-1268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670510"/>
                  </a:ext>
                </a:extLst>
              </a:tr>
              <a:tr h="22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19.87209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7.0611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189410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036421"/>
                  </a:ext>
                </a:extLst>
              </a:tr>
              <a:tr h="22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20.87848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7.0611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182590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-1178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4595905"/>
                  </a:ext>
                </a:extLst>
              </a:tr>
              <a:tr h="22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21.86473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7.0611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178560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-1152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2594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8472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2635-F6B0-49C1-B5D2-4F260E71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 At Tower Base Moment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9C62DC0-9B9F-47E3-B674-25452F01A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43" y="1825009"/>
            <a:ext cx="9731670" cy="3953491"/>
          </a:xfrm>
        </p:spPr>
      </p:pic>
    </p:spTree>
    <p:extLst>
      <p:ext uri="{BB962C8B-B14F-4D97-AF65-F5344CB8AC3E}">
        <p14:creationId xmlns:p14="http://schemas.microsoft.com/office/powerpoint/2010/main" val="1799465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2635-F6B0-49C1-B5D2-4F260E71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 At Hydrostatic Pressure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7DEBBE-9C9B-4A3A-A342-15F5D8634F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9" y="1858755"/>
            <a:ext cx="9973994" cy="4051936"/>
          </a:xfrm>
        </p:spPr>
      </p:pic>
    </p:spTree>
    <p:extLst>
      <p:ext uri="{BB962C8B-B14F-4D97-AF65-F5344CB8AC3E}">
        <p14:creationId xmlns:p14="http://schemas.microsoft.com/office/powerpoint/2010/main" val="1909355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2635-F6B0-49C1-B5D2-4F260E71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 At Ballast Pressure Pressure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1B43173-BC7F-4450-AAC0-F1B0C46F7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483" y="2011363"/>
            <a:ext cx="9550130" cy="3879741"/>
          </a:xfrm>
        </p:spPr>
      </p:pic>
    </p:spTree>
    <p:extLst>
      <p:ext uri="{BB962C8B-B14F-4D97-AF65-F5344CB8AC3E}">
        <p14:creationId xmlns:p14="http://schemas.microsoft.com/office/powerpoint/2010/main" val="1586781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2635-F6B0-49C1-B5D2-4F260E71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 At Ballast Pressure Pressure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1B43173-BC7F-4450-AAC0-F1B0C46F7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483" y="2011363"/>
            <a:ext cx="9550130" cy="3879741"/>
          </a:xfrm>
        </p:spPr>
      </p:pic>
    </p:spTree>
    <p:extLst>
      <p:ext uri="{BB962C8B-B14F-4D97-AF65-F5344CB8AC3E}">
        <p14:creationId xmlns:p14="http://schemas.microsoft.com/office/powerpoint/2010/main" val="2556351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2635-F6B0-49C1-B5D2-4F260E71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 All Load Combined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B91EEE2-22CE-426E-A230-6D44FA9E10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660" y="2011363"/>
            <a:ext cx="10411765" cy="4229780"/>
          </a:xfrm>
        </p:spPr>
      </p:pic>
    </p:spTree>
    <p:extLst>
      <p:ext uri="{BB962C8B-B14F-4D97-AF65-F5344CB8AC3E}">
        <p14:creationId xmlns:p14="http://schemas.microsoft.com/office/powerpoint/2010/main" val="3470340498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217</TotalTime>
  <Words>488</Words>
  <Application>Microsoft Office PowerPoint</Application>
  <PresentationFormat>Widescreen</PresentationFormat>
  <Paragraphs>230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Metropolitan</vt:lpstr>
      <vt:lpstr>Basic Model &amp; Load Calculation  </vt:lpstr>
      <vt:lpstr>Shell Model</vt:lpstr>
      <vt:lpstr>Load Diagram</vt:lpstr>
      <vt:lpstr>Calculated Load Cases </vt:lpstr>
      <vt:lpstr>Permanent Loads</vt:lpstr>
      <vt:lpstr>Permanent Loads</vt:lpstr>
      <vt:lpstr>Permanent Loads</vt:lpstr>
      <vt:lpstr>Variable Loads</vt:lpstr>
      <vt:lpstr>Variable Loads</vt:lpstr>
      <vt:lpstr>Stress At Tower Base Moment</vt:lpstr>
      <vt:lpstr>Stress At Hydrostatic Pressure</vt:lpstr>
      <vt:lpstr>Stress At Ballast Pressure Pressure</vt:lpstr>
      <vt:lpstr>Stress At Ballast Pressure Pressure</vt:lpstr>
      <vt:lpstr>Stress All Load Combined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Basic Model &amp; Load Calculation</dc:title>
  <dc:creator>Yasin Arafat</dc:creator>
  <cp:lastModifiedBy>Admin</cp:lastModifiedBy>
  <cp:revision>42</cp:revision>
  <dcterms:created xsi:type="dcterms:W3CDTF">2024-09-12T08:25:28Z</dcterms:created>
  <dcterms:modified xsi:type="dcterms:W3CDTF">2024-09-21T15:43:07Z</dcterms:modified>
</cp:coreProperties>
</file>